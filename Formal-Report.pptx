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68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41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5775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212579"/>
            <a:ext cx="9144000" cy="17819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~/ project-report	MCA · 2nd Semester · 2025–26</a:t>
            </a:r>
            <a:endParaRPr lang="en-US" sz="1010" dirty="0"/>
          </a:p>
        </p:txBody>
      </p:sp>
      <p:sp>
        <p:nvSpPr>
          <p:cNvPr id="4" name="Text 2"/>
          <p:cNvSpPr/>
          <p:nvPr/>
        </p:nvSpPr>
        <p:spPr>
          <a:xfrm>
            <a:off x="549585" y="743821"/>
            <a:ext cx="8048625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Aft>
                <a:spcPts val="1215"/>
              </a:spcAft>
              <a:buNone/>
            </a:pPr>
            <a:r>
              <a:rPr lang="en-US" sz="1010" kern="0" spc="101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PROJECT REPORT ON</a:t>
            </a:r>
            <a:endParaRPr lang="en-US" sz="1010" dirty="0"/>
          </a:p>
        </p:txBody>
      </p:sp>
      <p:sp>
        <p:nvSpPr>
          <p:cNvPr id="5" name="Text 3"/>
          <p:cNvSpPr/>
          <p:nvPr/>
        </p:nvSpPr>
        <p:spPr>
          <a:xfrm>
            <a:off x="549585" y="1249352"/>
            <a:ext cx="5059740" cy="64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ts val="4925"/>
              </a:lnSpc>
              <a:buNone/>
            </a:pPr>
            <a:r>
              <a:rPr lang="en-US" sz="5180" kern="0" spc="-13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 Based</a:t>
            </a:r>
            <a:endParaRPr lang="en-US" sz="5180" dirty="0"/>
          </a:p>
        </p:txBody>
      </p:sp>
      <p:sp>
        <p:nvSpPr>
          <p:cNvPr id="6" name="Text 4"/>
          <p:cNvSpPr/>
          <p:nvPr/>
        </p:nvSpPr>
        <p:spPr>
          <a:xfrm>
            <a:off x="549585" y="2018691"/>
            <a:ext cx="5550731" cy="64517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925"/>
              </a:lnSpc>
              <a:buNone/>
            </a:pPr>
            <a:r>
              <a:rPr lang="en-US" sz="5180" b="1" kern="0" spc="-13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 Application</a:t>
            </a:r>
            <a:endParaRPr lang="en-US" sz="5180" dirty="0"/>
          </a:p>
        </p:txBody>
      </p:sp>
      <p:sp>
        <p:nvSpPr>
          <p:cNvPr id="7" name="Shape 5"/>
          <p:cNvSpPr/>
          <p:nvPr/>
        </p:nvSpPr>
        <p:spPr>
          <a:xfrm>
            <a:off x="547613" y="2952189"/>
            <a:ext cx="1647825" cy="4763"/>
          </a:xfrm>
          <a:prstGeom prst="rect">
            <a:avLst/>
          </a:prstGeom>
          <a:solidFill>
            <a:srgbClr val="2D5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9585" y="3177422"/>
            <a:ext cx="5486400" cy="4762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72"/>
              </a:lnSpc>
              <a:spcBef>
                <a:spcPts val="1215"/>
              </a:spcBef>
              <a:buNone/>
            </a:pPr>
            <a:r>
              <a:rPr lang="en-US" sz="115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real-time, asynchronous messaging platform engineered entirely for the command-line environment.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9585" y="3944801"/>
            <a:ext cx="14954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Submitted By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549585" y="4128731"/>
            <a:ext cx="14954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Ghanshyam · 25138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549585" y="4306952"/>
            <a:ext cx="14954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Divya Jyoti · 25135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49585" y="4485174"/>
            <a:ext cx="14954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Manya Ranchan · 25153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098865" y="3944801"/>
            <a:ext cx="24955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4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Submitted To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6099795" y="4124683"/>
            <a:ext cx="24955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04"/>
              </a:lnSpc>
              <a:spcBef>
                <a:spcPts val="405"/>
              </a:spcBef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Mr. Anshul Kalia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099795" y="4302905"/>
            <a:ext cx="24955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Assistant Professor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099795" y="4481126"/>
            <a:ext cx="24955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Department of Computer Science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099795" y="4659348"/>
            <a:ext cx="24955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4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Himachal Pradesh University, Shimla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357" y="258180"/>
            <a:ext cx="2695575" cy="16619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CONTENTS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8357" y="513494"/>
            <a:ext cx="4298454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607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 of Contents</a:t>
            </a:r>
            <a:endParaRPr lang="en-US" sz="2740" dirty="0"/>
          </a:p>
        </p:txBody>
      </p:sp>
      <p:sp>
        <p:nvSpPr>
          <p:cNvPr id="5" name="Text 3"/>
          <p:cNvSpPr/>
          <p:nvPr/>
        </p:nvSpPr>
        <p:spPr>
          <a:xfrm>
            <a:off x="8134090" y="265658"/>
            <a:ext cx="461962" cy="1538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13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239292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0015" y="1450182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Overview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657725" y="1450182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Technology Stack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60015" y="1753568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Architecture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657725" y="1753568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 Schema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60015" y="2056955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Backend Implementation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657725" y="2056955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Modules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60015" y="2360341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Authentication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657725" y="2360341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Real-Time Communication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60015" y="2663727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Testing &amp; Diagnostics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657725" y="2663727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Features	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60015" y="2967113"/>
            <a:ext cx="4095750" cy="19011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	</a:t>
            </a:r>
            <a:r>
              <a:rPr lang="en-US" sz="108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 Scope &amp; Conclusion	</a:t>
            </a:r>
            <a:r>
              <a:rPr lang="en-US" sz="108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8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5F224AE4-E215-A102-9732-3E2C34D09082}"/>
              </a:ext>
            </a:extLst>
          </p:cNvPr>
          <p:cNvSpPr/>
          <p:nvPr/>
        </p:nvSpPr>
        <p:spPr>
          <a:xfrm rot="16200000">
            <a:off x="3090146" y="2619254"/>
            <a:ext cx="2736000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9362" y="309600"/>
            <a:ext cx="2928938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01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9362" y="589545"/>
            <a:ext cx="3656878" cy="53418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36"/>
              </a:lnSpc>
              <a:spcBef>
                <a:spcPts val="810"/>
              </a:spcBef>
              <a:buNone/>
            </a:pPr>
            <a:r>
              <a:rPr lang="en-US" sz="3020" b="1" kern="0" spc="-76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Overview</a:t>
            </a:r>
            <a:endParaRPr lang="en-US" sz="302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422871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7650" y="1736675"/>
            <a:ext cx="4543425" cy="78694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20"/>
              </a:lnSpc>
              <a:buNone/>
            </a:pPr>
            <a:r>
              <a:rPr lang="en-US" sz="137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terminal-based chat application that provides the responsiveness of modern messaging applications while operating entirely within the user's command-line environment.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547650" y="2968712"/>
            <a:ext cx="4543425" cy="700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43"/>
              </a:lnSpc>
              <a:spcBef>
                <a:spcPts val="1215"/>
              </a:spcBef>
              <a:buNone/>
            </a:pPr>
            <a:r>
              <a:rPr lang="en-US" sz="115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built as a lightweight alternative to resource-intensive graphical clients, the system serves developers and command-line enthusiasts who prefers simplicity and an uninterrupted workflow.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56374" y="1736452"/>
            <a:ext cx="3138488" cy="210978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734013" y="1735187"/>
            <a:ext cx="28622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spcAft>
                <a:spcPts val="1013"/>
              </a:spcAft>
              <a:buNone/>
            </a:pPr>
            <a:r>
              <a:rPr lang="en-US" sz="860" kern="0" spc="86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5734013" y="2029867"/>
            <a:ext cx="2862262" cy="3762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</a:t>
            </a:r>
            <a:r>
              <a:rPr lang="en-US" sz="108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login via mobile number and OTP verification.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734012" y="2490483"/>
            <a:ext cx="3042983" cy="37285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</a:t>
            </a:r>
            <a:r>
              <a:rPr lang="en-US" sz="108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message exchange using WebSockets.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732600" y="2947720"/>
            <a:ext cx="3042982" cy="37285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</a:t>
            </a:r>
            <a:r>
              <a:rPr lang="en-US" sz="108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Persistent storage of accounts and chat history.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732599" y="3404957"/>
            <a:ext cx="2994633" cy="37285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08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</a:t>
            </a:r>
            <a:r>
              <a:rPr lang="en-US" sz="108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simple, native-feeling terminal user interface.</a:t>
            </a:r>
            <a:endParaRPr lang="en-US" sz="108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6374" y="1736452"/>
            <a:ext cx="3138488" cy="2109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543" y="258180"/>
            <a:ext cx="27146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8543" y="513494"/>
            <a:ext cx="3413857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607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Stack</a:t>
            </a:r>
            <a:endParaRPr lang="en-US" sz="2740" dirty="0"/>
          </a:p>
        </p:txBody>
      </p:sp>
      <p:sp>
        <p:nvSpPr>
          <p:cNvPr id="5" name="Text 3"/>
          <p:cNvSpPr/>
          <p:nvPr/>
        </p:nvSpPr>
        <p:spPr>
          <a:xfrm>
            <a:off x="8134090" y="26565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187872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7650" y="1372828"/>
            <a:ext cx="3933825" cy="1223962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5769" y="1560798"/>
            <a:ext cx="3557588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kern="0" spc="76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BACKEND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735769" y="1756767"/>
            <a:ext cx="3557588" cy="285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68"/>
              </a:lnSpc>
              <a:spcBef>
                <a:spcPts val="405"/>
              </a:spcBef>
              <a:buNone/>
            </a:pPr>
            <a:r>
              <a:rPr lang="en-US" sz="151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· Uvicorn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735769" y="2095054"/>
            <a:ext cx="3557588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spcBef>
                <a:spcPts val="405"/>
              </a:spcBef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Asynchronous Python framework over the ASGI gateway, handling both stateless REST endpoints and stateful WebSocket sessions.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2488" y="1372828"/>
            <a:ext cx="3933825" cy="1223962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50606" y="1560798"/>
            <a:ext cx="3557588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kern="0" spc="76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FRONTEND (TUI)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850606" y="1756767"/>
            <a:ext cx="3557588" cy="285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68"/>
              </a:lnSpc>
              <a:spcBef>
                <a:spcPts val="405"/>
              </a:spcBef>
              <a:buNone/>
            </a:pPr>
            <a:r>
              <a:rPr lang="en-US" sz="151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Textual · Rich</a:t>
            </a:r>
            <a:endParaRPr lang="en-US" sz="1510" dirty="0"/>
          </a:p>
        </p:txBody>
      </p:sp>
      <p:sp>
        <p:nvSpPr>
          <p:cNvPr id="14" name="Text 12"/>
          <p:cNvSpPr/>
          <p:nvPr/>
        </p:nvSpPr>
        <p:spPr>
          <a:xfrm>
            <a:off x="4850606" y="2095054"/>
            <a:ext cx="3557588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spcBef>
                <a:spcPts val="405"/>
              </a:spcBef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Reactive terminal UI engine that renders a CSS-styled layout, paired with Rich for refined typography and colour.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7650" y="2779998"/>
            <a:ext cx="3933825" cy="1223962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5769" y="2967968"/>
            <a:ext cx="3557588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kern="0" spc="76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35769" y="3163937"/>
            <a:ext cx="3557588" cy="285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68"/>
              </a:lnSpc>
              <a:spcBef>
                <a:spcPts val="405"/>
              </a:spcBef>
              <a:buNone/>
            </a:pPr>
            <a:r>
              <a:rPr lang="en-US" sz="151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· SQLModel</a:t>
            </a:r>
            <a:endParaRPr lang="en-US" sz="1510" dirty="0"/>
          </a:p>
        </p:txBody>
      </p:sp>
      <p:sp>
        <p:nvSpPr>
          <p:cNvPr id="18" name="Text 16"/>
          <p:cNvSpPr/>
          <p:nvPr/>
        </p:nvSpPr>
        <p:spPr>
          <a:xfrm>
            <a:off x="735769" y="3502223"/>
            <a:ext cx="3557588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spcBef>
                <a:spcPts val="405"/>
              </a:spcBef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Relational persistence driven by asyncpg for non-blocking I/O, with SQLModel bridging SQLAlchemy mapping and Pydantic validation.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2488" y="2779998"/>
            <a:ext cx="3933825" cy="1223962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50606" y="2967968"/>
            <a:ext cx="3557588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kern="0" spc="76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NETWORKING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850606" y="3163937"/>
            <a:ext cx="3557588" cy="2857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68"/>
              </a:lnSpc>
              <a:spcBef>
                <a:spcPts val="405"/>
              </a:spcBef>
              <a:buNone/>
            </a:pPr>
            <a:r>
              <a:rPr lang="en-US" sz="151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WebSockets · httpx</a:t>
            </a:r>
            <a:endParaRPr lang="en-US" sz="1510" dirty="0"/>
          </a:p>
        </p:txBody>
      </p:sp>
      <p:sp>
        <p:nvSpPr>
          <p:cNvPr id="22" name="Text 20"/>
          <p:cNvSpPr/>
          <p:nvPr/>
        </p:nvSpPr>
        <p:spPr>
          <a:xfrm>
            <a:off x="4850606" y="3502223"/>
            <a:ext cx="3557588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spcBef>
                <a:spcPts val="405"/>
              </a:spcBef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Full-duplex sockets sustain real-time message streams, while httpx handles the asynchronous HTTP handshake for authentication.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7688" y="4231664"/>
            <a:ext cx="8048625" cy="257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2"/>
              </a:lnSpc>
              <a:spcBef>
                <a:spcPts val="1215"/>
              </a:spcBef>
              <a:buNone/>
            </a:pPr>
            <a:r>
              <a:rPr lang="en-US" sz="83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Runtime · Python 3.10 / 3.11 / 3.12 | Platform · Linux · macOS · Windows</a:t>
            </a:r>
            <a:endParaRPr lang="en-US" sz="83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4157328"/>
            <a:ext cx="8048625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07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49734" y="309600"/>
            <a:ext cx="3167063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03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9734" y="590662"/>
            <a:ext cx="3292016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810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</a:t>
            </a:r>
            <a:endParaRPr lang="en-US" sz="27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316459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9733" y="1405028"/>
            <a:ext cx="8046579" cy="37080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12"/>
              </a:lnSpc>
              <a:spcBef>
                <a:spcPts val="1215"/>
              </a:spcBef>
              <a:buNone/>
            </a:pPr>
            <a:r>
              <a:rPr lang="en-US" sz="101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asynchronous client–server architecture in which data flows over two distinct channels: stateless REST for authentication and history, and persistent WebSockets for live message delivery.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547650" y="1932198"/>
            <a:ext cx="1876425" cy="1890712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6719" y="2100597"/>
            <a:ext cx="15382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16719" y="2289832"/>
            <a:ext cx="1538287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spcBef>
                <a:spcPts val="405"/>
              </a:spcBef>
              <a:buNone/>
            </a:pPr>
            <a:r>
              <a:rPr lang="en-US" sz="115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Textual TUI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6719" y="2586521"/>
            <a:ext cx="1538287" cy="4143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9"/>
              </a:lnSpc>
              <a:spcBef>
                <a:spcPts val="607"/>
              </a:spcBef>
              <a:buNone/>
            </a:pPr>
            <a:r>
              <a:rPr lang="en-US" sz="79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Reactive terminal interface running an asynchronous listener loop on the user's local machine.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2736056" y="2446936"/>
            <a:ext cx="2857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2802695" y="2525130"/>
            <a:ext cx="161923" cy="25994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203"/>
              </a:spcBef>
              <a:buNone/>
            </a:pPr>
            <a:r>
              <a:rPr lang="en-US" sz="144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2796569" y="3038591"/>
            <a:ext cx="214313" cy="166456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spcBef>
                <a:spcPts val="1215"/>
              </a:spcBef>
              <a:buNone/>
            </a:pPr>
            <a:r>
              <a:rPr lang="en-US" sz="94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3290850" y="1932198"/>
            <a:ext cx="2562225" cy="1890712"/>
          </a:xfrm>
          <a:prstGeom prst="rect">
            <a:avLst/>
          </a:prstGeom>
          <a:solidFill>
            <a:srgbClr val="F2F0EA"/>
          </a:solidFill>
          <a:ln w="4763">
            <a:solidFill>
              <a:srgbClr val="2D5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59919" y="2100597"/>
            <a:ext cx="2224088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 — FASTAPI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3459919" y="2289832"/>
            <a:ext cx="2224088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spcBef>
                <a:spcPts val="405"/>
              </a:spcBef>
              <a:buNone/>
            </a:pPr>
            <a:r>
              <a:rPr lang="en-US" sz="115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 Backend Hub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59919" y="2585442"/>
            <a:ext cx="2224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324"/>
              </a:spcAft>
              <a:buNone/>
            </a:pPr>
            <a:r>
              <a:rPr lang="en-US" sz="79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/request-otp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3459919" y="2777430"/>
            <a:ext cx="2224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324"/>
              </a:spcAft>
              <a:buNone/>
            </a:pPr>
            <a:r>
              <a:rPr lang="en-US" sz="79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/verify-otp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3459919" y="2969419"/>
            <a:ext cx="2224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324"/>
              </a:spcAft>
              <a:buNone/>
            </a:pPr>
            <a:r>
              <a:rPr lang="en-US" sz="79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/messages/{a}/{b}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3459919" y="3161407"/>
            <a:ext cx="2224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WS /ws/{phone_number}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3459919" y="3391123"/>
            <a:ext cx="2224088" cy="2619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607"/>
              </a:spcBef>
              <a:buNone/>
            </a:pPr>
            <a:r>
              <a:rPr lang="en-US" sz="7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Maintains an in-memory map of active sockets for instantaneous routing.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6042742" y="2661642"/>
            <a:ext cx="500063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asyncpg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719888" y="1932198"/>
            <a:ext cx="1876425" cy="1890712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88956" y="2100597"/>
            <a:ext cx="15382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kern="0" spc="72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PERSISTENCE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88956" y="2289832"/>
            <a:ext cx="1538287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spcBef>
                <a:spcPts val="405"/>
              </a:spcBef>
              <a:buNone/>
            </a:pPr>
            <a:r>
              <a:rPr lang="en-US" sz="115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88956" y="2586521"/>
            <a:ext cx="1538287" cy="4143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9"/>
              </a:lnSpc>
              <a:spcBef>
                <a:spcPts val="607"/>
              </a:spcBef>
              <a:buNone/>
            </a:pPr>
            <a:r>
              <a:rPr lang="en-US" sz="79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user records and full message history; modelled via SQLModel for type-safe access.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547688" y="4009579"/>
            <a:ext cx="8048625" cy="9572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7688" y="4142556"/>
            <a:ext cx="80486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FLOW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547613" y="4371231"/>
            <a:ext cx="8048700" cy="5953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 first issues an HTTP request to obtain an OTP and verify the user. Upon successful authentication, it upgrades to a WebSocket session identified by the user's phone number. Outbound messages are transmitted through this socket; the server persists them to PostgreSQL and forwards them to the recipient's active connection in the same operation.</a:t>
            </a:r>
            <a:endParaRPr lang="en-US" sz="101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4009579"/>
            <a:ext cx="8048625" cy="957263"/>
          </a:xfrm>
          <a:prstGeom prst="rect">
            <a:avLst/>
          </a:prstGeom>
        </p:spPr>
      </p:pic>
      <p:sp>
        <p:nvSpPr>
          <p:cNvPr id="15" name="Text 23">
            <a:extLst>
              <a:ext uri="{FF2B5EF4-FFF2-40B4-BE49-F238E27FC236}">
                <a16:creationId xmlns:a16="http://schemas.microsoft.com/office/drawing/2014/main" id="{30CDC926-A93E-2BE6-D422-24285F77E3C8}"/>
              </a:ext>
            </a:extLst>
          </p:cNvPr>
          <p:cNvSpPr/>
          <p:nvPr/>
        </p:nvSpPr>
        <p:spPr>
          <a:xfrm>
            <a:off x="2429027" y="3165598"/>
            <a:ext cx="866774" cy="2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ts val="203"/>
              </a:spcBef>
            </a:pPr>
            <a:r>
              <a:rPr lang="en-IN" sz="1200" dirty="0">
                <a:solidFill>
                  <a:srgbClr val="2D5B8A"/>
                </a:solidFill>
              </a:rPr>
              <a:t>↔</a:t>
            </a:r>
            <a:endParaRPr lang="en-US" sz="1200" dirty="0">
              <a:solidFill>
                <a:srgbClr val="2D5B8A"/>
              </a:solidFill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BD282EF4-2BF0-7B94-829B-B23864607BB5}"/>
              </a:ext>
            </a:extLst>
          </p:cNvPr>
          <p:cNvSpPr/>
          <p:nvPr/>
        </p:nvSpPr>
        <p:spPr>
          <a:xfrm>
            <a:off x="5853075" y="2759292"/>
            <a:ext cx="866774" cy="2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ts val="203"/>
              </a:spcBef>
            </a:pPr>
            <a:r>
              <a:rPr lang="en-IN" sz="1200" dirty="0">
                <a:solidFill>
                  <a:srgbClr val="2D5B8A"/>
                </a:solidFill>
              </a:rPr>
              <a:t>↔</a:t>
            </a:r>
            <a:endParaRPr lang="en-US" sz="1200" dirty="0">
              <a:solidFill>
                <a:srgbClr val="2D5B8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49734" y="309600"/>
            <a:ext cx="432435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04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9734" y="590662"/>
            <a:ext cx="4739816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810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Schema</a:t>
            </a:r>
            <a:endParaRPr lang="en-US" sz="27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316459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79044" y="2274838"/>
            <a:ext cx="385763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kern="0" spc="86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: 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976650" y="2491904"/>
            <a:ext cx="1190625" cy="4763"/>
          </a:xfrm>
          <a:prstGeom prst="rect">
            <a:avLst/>
          </a:prstGeom>
          <a:solidFill>
            <a:srgbClr val="2D5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88532" y="2547342"/>
            <a:ext cx="96678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sends / receives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547613" y="3654177"/>
            <a:ext cx="7134225" cy="4000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79"/>
              </a:lnSpc>
              <a:spcBef>
                <a:spcPts val="2025"/>
              </a:spcBef>
              <a:buNone/>
            </a:pPr>
            <a:r>
              <a:rPr lang="en-US" sz="97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schema is defined through SQLModel, which unifies SQLAlchemy's relational mapping with Pydantic's validation. A single User may participate in many Messages, related through the</a:t>
            </a: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sender_id </a:t>
            </a:r>
            <a:r>
              <a:rPr lang="en-US" sz="97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</a:t>
            </a: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receiver_id </a:t>
            </a:r>
            <a:r>
              <a:rPr lang="en-US" sz="97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foreign keys.</a:t>
            </a:r>
            <a:endParaRPr lang="en-US" sz="97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58B1925-C213-B59C-1E72-AB0955177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268792"/>
              </p:ext>
            </p:extLst>
          </p:nvPr>
        </p:nvGraphicFramePr>
        <p:xfrm>
          <a:off x="557175" y="1877839"/>
          <a:ext cx="3238500" cy="1219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60648046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690131844"/>
                    </a:ext>
                  </a:extLst>
                </a:gridCol>
              </a:tblGrid>
              <a:tr h="297992"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12"/>
                        </a:lnSpc>
                        <a:buNone/>
                      </a:pPr>
                      <a:r>
                        <a:rPr lang="en-IN" sz="1010" b="1" kern="0" spc="101" dirty="0">
                          <a:solidFill>
                            <a:srgbClr val="FAFAF7"/>
                          </a:solidFill>
                          <a:latin typeface="IBM Plex Mono" pitchFamily="34" charset="0"/>
                        </a:rPr>
                        <a:t>users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01677"/>
                  </a:ext>
                </a:extLst>
              </a:tr>
              <a:tr h="30709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id (pk)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Int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62015"/>
                  </a:ext>
                </a:extLst>
              </a:tr>
              <a:tr h="30709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 err="1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phone_number</a:t>
                      </a: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 (</a:t>
                      </a:r>
                      <a:r>
                        <a:rPr lang="en-IN" sz="970" kern="1200" dirty="0" err="1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uq</a:t>
                      </a: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varchar (n)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74535"/>
                  </a:ext>
                </a:extLst>
              </a:tr>
              <a:tr h="30709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+mn-ea"/>
                          <a:cs typeface="+mn-cs"/>
                        </a:rPr>
                        <a:t>is_verified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  <a:latin typeface="IBM Plex Sans" pitchFamily="34" charset="0"/>
                        </a:rPr>
                        <a:t>boolean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465003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DF3D9E1-2F55-3234-DF56-9F273AC22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389926"/>
              </p:ext>
            </p:extLst>
          </p:nvPr>
        </p:nvGraphicFramePr>
        <p:xfrm>
          <a:off x="5362575" y="1569765"/>
          <a:ext cx="3238500" cy="1827312"/>
        </p:xfrm>
        <a:graphic>
          <a:graphicData uri="http://schemas.openxmlformats.org/drawingml/2006/table">
            <a:tbl>
              <a:tblPr firstRow="1" bandRow="1">
                <a:solidFill>
                  <a:srgbClr val="F2F0EA"/>
                </a:solidFill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60648046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690131844"/>
                    </a:ext>
                  </a:extLst>
                </a:gridCol>
              </a:tblGrid>
              <a:tr h="296992">
                <a:tc grid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12"/>
                        </a:lnSpc>
                        <a:buNone/>
                      </a:pPr>
                      <a:r>
                        <a:rPr lang="en-IN" sz="1010" b="1" kern="0" spc="101" dirty="0">
                          <a:solidFill>
                            <a:srgbClr val="FAFAF7"/>
                          </a:solidFill>
                        </a:rPr>
                        <a:t>messages</a:t>
                      </a:r>
                      <a:endParaRPr lang="en-IN" sz="1010" b="1" kern="0" spc="101" dirty="0">
                        <a:solidFill>
                          <a:srgbClr val="FAFAF7"/>
                        </a:solidFill>
                        <a:latin typeface="IBM Plex Mono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01677"/>
                  </a:ext>
                </a:extLst>
              </a:tr>
              <a:tr h="30606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id (pk)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9462015"/>
                  </a:ext>
                </a:extLst>
              </a:tr>
              <a:tr h="30606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 err="1">
                          <a:solidFill>
                            <a:schemeClr val="tx1"/>
                          </a:solidFill>
                        </a:rPr>
                        <a:t>sender_id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074535"/>
                  </a:ext>
                </a:extLst>
              </a:tr>
              <a:tr h="30606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 err="1">
                          <a:solidFill>
                            <a:schemeClr val="tx1"/>
                          </a:solidFill>
                        </a:rPr>
                        <a:t>receiver_id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3465003"/>
                  </a:ext>
                </a:extLst>
              </a:tr>
              <a:tr h="30606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2346535"/>
                  </a:ext>
                </a:extLst>
              </a:tr>
              <a:tr h="30606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 err="1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79"/>
                        </a:lnSpc>
                        <a:spcBef>
                          <a:spcPts val="2025"/>
                        </a:spcBef>
                        <a:buNone/>
                      </a:pPr>
                      <a:r>
                        <a:rPr lang="en-IN" sz="970" kern="1200" dirty="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IN" sz="97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85551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9250" y="309600"/>
            <a:ext cx="395287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05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9250" y="590662"/>
            <a:ext cx="4579925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810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 Implementation</a:t>
            </a:r>
            <a:endParaRPr lang="en-US" sz="27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316459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7650" y="1526158"/>
            <a:ext cx="45815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REST ENDPOINTS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547650" y="1729011"/>
            <a:ext cx="4581525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Stateless HTTP routes handle authentication handshakes and the retrieval of historical conversations between two users.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547650" y="2193578"/>
            <a:ext cx="45815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WEBSOCKET GATEWAY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547650" y="2396430"/>
            <a:ext cx="4581525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persistent socket at</a:t>
            </a:r>
            <a:r>
              <a:rPr lang="en-US" sz="101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/ws/{phone_number} </a:t>
            </a: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maintains a dictionary of active connections for direct routing.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547650" y="2860997"/>
            <a:ext cx="45815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PERSISTENCE LAYER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547650" y="3063850"/>
            <a:ext cx="4581525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SQLModel definitions are executed through the asyncpg driver to ensure non-blocking reads and writes against PostgreSQL.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547650" y="3528417"/>
            <a:ext cx="45815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CONCURRENCY MODEL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547650" y="3731270"/>
            <a:ext cx="4581525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entire server operates on Python's asyncio event loop, served by Uvicorn over the ASGI gateway interface.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5403540" y="1526456"/>
            <a:ext cx="3190875" cy="2557463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572683" y="2348421"/>
            <a:ext cx="71438" cy="71438"/>
          </a:xfrm>
          <a:prstGeom prst="ellipse">
            <a:avLst/>
          </a:prstGeom>
          <a:solidFill>
            <a:srgbClr val="2D5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17977" y="2312702"/>
            <a:ext cx="576262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server.log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5572609" y="2533786"/>
            <a:ext cx="2852738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INFO: Started server process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572609" y="2682540"/>
            <a:ext cx="2852738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INFO: Waiting for application startup.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5572609" y="2831294"/>
            <a:ext cx="2852738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INFO: Application startup complete.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572609" y="2980048"/>
            <a:ext cx="2852738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2"/>
              </a:lnSpc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INFO: Uvicorn running on 0.0.0.0:8000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357" y="258180"/>
            <a:ext cx="246697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06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548357" y="513494"/>
            <a:ext cx="2893343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607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Modules</a:t>
            </a:r>
            <a:endParaRPr lang="en-US" sz="2740" dirty="0"/>
          </a:p>
        </p:txBody>
      </p:sp>
      <p:sp>
        <p:nvSpPr>
          <p:cNvPr id="5" name="Text 3"/>
          <p:cNvSpPr/>
          <p:nvPr/>
        </p:nvSpPr>
        <p:spPr>
          <a:xfrm>
            <a:off x="8134090" y="26565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13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47688" y="1187872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7613" y="1321743"/>
            <a:ext cx="7134225" cy="4000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79"/>
              </a:lnSpc>
              <a:spcBef>
                <a:spcPts val="1013"/>
              </a:spcBef>
              <a:buNone/>
            </a:pPr>
            <a:r>
              <a:rPr lang="en-US" sz="97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codebase is organised into four focused Python modules, each with a single, well-defined responsibility under the separation-of-concerns principle.</a:t>
            </a:r>
            <a:endParaRPr lang="en-US" sz="970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0129125-585C-23AB-DE5F-5709AEF90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131369"/>
              </p:ext>
            </p:extLst>
          </p:nvPr>
        </p:nvGraphicFramePr>
        <p:xfrm>
          <a:off x="565147" y="1883789"/>
          <a:ext cx="8024578" cy="207994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26624">
                  <a:extLst>
                    <a:ext uri="{9D8B030D-6E8A-4147-A177-3AD203B41FA5}">
                      <a16:colId xmlns:a16="http://schemas.microsoft.com/office/drawing/2014/main" val="2743323264"/>
                    </a:ext>
                  </a:extLst>
                </a:gridCol>
                <a:gridCol w="1843315">
                  <a:extLst>
                    <a:ext uri="{9D8B030D-6E8A-4147-A177-3AD203B41FA5}">
                      <a16:colId xmlns:a16="http://schemas.microsoft.com/office/drawing/2014/main" val="177095808"/>
                    </a:ext>
                  </a:extLst>
                </a:gridCol>
                <a:gridCol w="5454639">
                  <a:extLst>
                    <a:ext uri="{9D8B030D-6E8A-4147-A177-3AD203B41FA5}">
                      <a16:colId xmlns:a16="http://schemas.microsoft.com/office/drawing/2014/main" val="4241285317"/>
                    </a:ext>
                  </a:extLst>
                </a:gridCol>
              </a:tblGrid>
              <a:tr h="281561">
                <a:tc>
                  <a:txBody>
                    <a:bodyPr/>
                    <a:lstStyle/>
                    <a:p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MODULE</a:t>
                      </a:r>
                      <a:endParaRPr lang="en-IN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ROLE</a:t>
                      </a:r>
                      <a:endParaRPr lang="en-US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RESPONSIBILITY</a:t>
                      </a:r>
                      <a:endParaRPr lang="en-US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37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rgbClr val="2D5B8A"/>
                          </a:solidFill>
                        </a:rPr>
                        <a:t>main.py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96"/>
                        </a:lnSpc>
                        <a:buNone/>
                      </a:pPr>
                      <a:endParaRPr lang="en-IN" sz="86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b="1" kern="1200" dirty="0">
                          <a:solidFill>
                            <a:srgbClr val="1A1F26"/>
                          </a:solidFill>
                        </a:rPr>
                        <a:t>System Brain &amp; Traffic Controller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60" b="1" kern="1200" dirty="0">
                          <a:solidFill>
                            <a:srgbClr val="1A1F26"/>
                          </a:solidFill>
                        </a:rPr>
                        <a:t> </a:t>
                      </a:r>
                      <a:endParaRPr lang="en-US" sz="860" b="1" kern="1200" dirty="0">
                        <a:solidFill>
                          <a:srgbClr val="1A1F26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Hosts the central </a:t>
                      </a:r>
                      <a:r>
                        <a:rPr lang="en-US" sz="860" kern="1200" dirty="0" err="1">
                          <a:solidFill>
                            <a:schemeClr val="tx1"/>
                          </a:solidFill>
                        </a:rPr>
                        <a:t>FastAPI</a:t>
                      </a: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 application. Exposes REST endpoints for OTP issuance and history retrieval, and maintains the persistent WebSocket pipeline that forwards messages between users.</a:t>
                      </a:r>
                      <a:endParaRPr lang="en-US" sz="86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52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rgbClr val="2D5B8A"/>
                          </a:solidFill>
                        </a:rPr>
                        <a:t>client.py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96"/>
                        </a:lnSpc>
                        <a:buNone/>
                      </a:pPr>
                      <a:endParaRPr lang="en-IN" sz="86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b="1" kern="1200" dirty="0">
                          <a:solidFill>
                            <a:srgbClr val="1A1F26"/>
                          </a:solidFill>
                        </a:rPr>
                        <a:t>User Interface &amp;</a:t>
                      </a:r>
                      <a:r>
                        <a:rPr lang="en-IN" sz="860" b="1" kern="1200" dirty="0">
                          <a:solidFill>
                            <a:srgbClr val="1A1F26"/>
                          </a:solidFill>
                        </a:rPr>
                        <a:t> </a:t>
                      </a:r>
                      <a:r>
                        <a:rPr lang="en-US" sz="860" b="1" kern="1200" dirty="0">
                          <a:solidFill>
                            <a:srgbClr val="1A1F26"/>
                          </a:solidFill>
                        </a:rPr>
                        <a:t>Terminal Experience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60" b="1" kern="1200" dirty="0">
                        <a:solidFill>
                          <a:srgbClr val="1A1F26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Runs locally with the Textual framework to render a flicker-free terminal window. Handles keystrokes, calls the backend API for login, and listens asynchronously for inbound messages.</a:t>
                      </a:r>
                      <a:endParaRPr lang="en-US" sz="86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07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rgbClr val="2D5B8A"/>
                          </a:solidFill>
                        </a:rPr>
                        <a:t>models.py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96"/>
                        </a:lnSpc>
                        <a:buNone/>
                      </a:pPr>
                      <a:endParaRPr lang="en-IN" sz="86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b="1" kern="1200" dirty="0">
                          <a:solidFill>
                            <a:srgbClr val="1A1F26"/>
                          </a:solidFill>
                        </a:rPr>
                        <a:t>Blueprint &amp; Rulebook</a:t>
                      </a:r>
                      <a:endParaRPr lang="en-IN" sz="860" b="1" kern="1200" dirty="0">
                        <a:solidFill>
                          <a:srgbClr val="1A1F26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Defines the User and Message data structures via </a:t>
                      </a:r>
                      <a:r>
                        <a:rPr lang="en-US" sz="860" kern="1200" dirty="0" err="1">
                          <a:solidFill>
                            <a:schemeClr val="tx1"/>
                          </a:solidFill>
                        </a:rPr>
                        <a:t>SQLModel</a:t>
                      </a: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 and enforces validation through </a:t>
                      </a:r>
                      <a:r>
                        <a:rPr lang="en-US" sz="860" kern="1200" dirty="0" err="1">
                          <a:solidFill>
                            <a:schemeClr val="tx1"/>
                          </a:solidFill>
                        </a:rPr>
                        <a:t>Pydantic</a:t>
                      </a: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, preventing malformed records from entering the system.</a:t>
                      </a:r>
                      <a:endParaRPr lang="en-US" sz="86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1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rgbClr val="2D5B8A"/>
                          </a:solidFill>
                        </a:rPr>
                        <a:t>database.py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96"/>
                        </a:lnSpc>
                        <a:buNone/>
                      </a:pPr>
                      <a:endParaRPr lang="en-IN" sz="86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b="1" kern="1200" dirty="0">
                          <a:solidFill>
                            <a:srgbClr val="1A1F26"/>
                          </a:solidFill>
                        </a:rPr>
                        <a:t>Storage Pipe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96"/>
                        </a:lnSpc>
                        <a:buNone/>
                      </a:pPr>
                      <a:endParaRPr lang="en-IN" sz="860" b="1" kern="1200" dirty="0">
                        <a:solidFill>
                          <a:srgbClr val="1A1F26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Configures the asynchronous </a:t>
                      </a:r>
                      <a:r>
                        <a:rPr lang="en-US" sz="860" kern="1200" dirty="0" err="1">
                          <a:solidFill>
                            <a:schemeClr val="tx1"/>
                          </a:solidFill>
                        </a:rPr>
                        <a:t>asyncpg</a:t>
                      </a: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 engine, </a:t>
                      </a:r>
                      <a:r>
                        <a:rPr lang="en-US" sz="860" kern="1200" dirty="0" err="1">
                          <a:solidFill>
                            <a:schemeClr val="tx1"/>
                          </a:solidFill>
                        </a:rPr>
                        <a:t>initialises</a:t>
                      </a:r>
                      <a:r>
                        <a:rPr lang="en-US" sz="860" kern="1200" dirty="0">
                          <a:solidFill>
                            <a:schemeClr val="tx1"/>
                          </a:solidFill>
                        </a:rPr>
                        <a:t> database tables on startup, and yields transactional sessions to any module that needs to read or write data.</a:t>
                      </a:r>
                      <a:endParaRPr lang="en-US" sz="86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8668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171" y="309600"/>
            <a:ext cx="3100388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07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13</a:t>
            </a:r>
            <a:endParaRPr lang="en-US" sz="860" dirty="0"/>
          </a:p>
        </p:txBody>
      </p:sp>
      <p:sp>
        <p:nvSpPr>
          <p:cNvPr id="20" name="Text 2"/>
          <p:cNvSpPr/>
          <p:nvPr/>
        </p:nvSpPr>
        <p:spPr>
          <a:xfrm>
            <a:off x="548170" y="590662"/>
            <a:ext cx="3331679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810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Authentication</a:t>
            </a:r>
            <a:endParaRPr lang="en-US" sz="2740" dirty="0"/>
          </a:p>
        </p:txBody>
      </p:sp>
      <p:sp>
        <p:nvSpPr>
          <p:cNvPr id="21" name="Shape 4"/>
          <p:cNvSpPr/>
          <p:nvPr/>
        </p:nvSpPr>
        <p:spPr>
          <a:xfrm>
            <a:off x="547688" y="1316459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5"/>
          <p:cNvSpPr/>
          <p:nvPr/>
        </p:nvSpPr>
        <p:spPr>
          <a:xfrm>
            <a:off x="548618" y="1526604"/>
            <a:ext cx="3886200" cy="638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08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 is performed through a two-step One-Time Password mechanism keyed against the user's mobile number, eliminating any need for stored passwords.</a:t>
            </a:r>
            <a:endParaRPr lang="en-US" sz="1080" dirty="0"/>
          </a:p>
        </p:txBody>
      </p:sp>
      <p:sp>
        <p:nvSpPr>
          <p:cNvPr id="23" name="Text 6"/>
          <p:cNvSpPr/>
          <p:nvPr/>
        </p:nvSpPr>
        <p:spPr>
          <a:xfrm>
            <a:off x="548283" y="2344675"/>
            <a:ext cx="176212" cy="533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50" dirty="0"/>
          </a:p>
        </p:txBody>
      </p:sp>
      <p:sp>
        <p:nvSpPr>
          <p:cNvPr id="24" name="Text 7"/>
          <p:cNvSpPr/>
          <p:nvPr/>
        </p:nvSpPr>
        <p:spPr>
          <a:xfrm>
            <a:off x="862161" y="2344675"/>
            <a:ext cx="357187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OTP</a:t>
            </a:r>
            <a:endParaRPr lang="en-US" sz="1150" dirty="0"/>
          </a:p>
        </p:txBody>
      </p:sp>
      <p:sp>
        <p:nvSpPr>
          <p:cNvPr id="25" name="Text 8"/>
          <p:cNvSpPr/>
          <p:nvPr/>
        </p:nvSpPr>
        <p:spPr>
          <a:xfrm>
            <a:off x="862161" y="2563937"/>
            <a:ext cx="3571875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 submits a phone number; the server generates a code, stores it in an in-memory cache, and returns acknowledgement.</a:t>
            </a:r>
            <a:endParaRPr lang="en-US" sz="900" dirty="0"/>
          </a:p>
        </p:txBody>
      </p:sp>
      <p:sp>
        <p:nvSpPr>
          <p:cNvPr id="26" name="Text 9"/>
          <p:cNvSpPr/>
          <p:nvPr/>
        </p:nvSpPr>
        <p:spPr>
          <a:xfrm>
            <a:off x="548283" y="2981288"/>
            <a:ext cx="176212" cy="533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50" dirty="0"/>
          </a:p>
        </p:txBody>
      </p:sp>
      <p:sp>
        <p:nvSpPr>
          <p:cNvPr id="27" name="Text 10"/>
          <p:cNvSpPr/>
          <p:nvPr/>
        </p:nvSpPr>
        <p:spPr>
          <a:xfrm>
            <a:off x="862161" y="2981288"/>
            <a:ext cx="357187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OTP</a:t>
            </a:r>
            <a:endParaRPr lang="en-US" sz="1150" dirty="0"/>
          </a:p>
        </p:txBody>
      </p:sp>
      <p:sp>
        <p:nvSpPr>
          <p:cNvPr id="28" name="Text 11"/>
          <p:cNvSpPr/>
          <p:nvPr/>
        </p:nvSpPr>
        <p:spPr>
          <a:xfrm>
            <a:off x="862161" y="3200549"/>
            <a:ext cx="3571875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submitted code is validated against the cache; on success the user record is marked</a:t>
            </a:r>
            <a:r>
              <a:rPr lang="en-US" sz="90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is_verified = True</a:t>
            </a: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548283" y="3617900"/>
            <a:ext cx="176212" cy="533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50" dirty="0"/>
          </a:p>
        </p:txBody>
      </p:sp>
      <p:sp>
        <p:nvSpPr>
          <p:cNvPr id="30" name="Text 13"/>
          <p:cNvSpPr/>
          <p:nvPr/>
        </p:nvSpPr>
        <p:spPr>
          <a:xfrm>
            <a:off x="862161" y="3617900"/>
            <a:ext cx="3571875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Establish Session</a:t>
            </a:r>
            <a:endParaRPr lang="en-US" sz="1150" dirty="0"/>
          </a:p>
        </p:txBody>
      </p:sp>
      <p:sp>
        <p:nvSpPr>
          <p:cNvPr id="31" name="Text 14"/>
          <p:cNvSpPr/>
          <p:nvPr/>
        </p:nvSpPr>
        <p:spPr>
          <a:xfrm>
            <a:off x="862161" y="3837161"/>
            <a:ext cx="3571875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90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client transitions from the login view to the chat interface and opens its persistent WebSocket connection.</a:t>
            </a:r>
            <a:endParaRPr lang="en-US" sz="900" dirty="0"/>
          </a:p>
        </p:txBody>
      </p:sp>
      <p:sp>
        <p:nvSpPr>
          <p:cNvPr id="32" name="Shape 15"/>
          <p:cNvSpPr/>
          <p:nvPr/>
        </p:nvSpPr>
        <p:spPr>
          <a:xfrm>
            <a:off x="4983436" y="1526382"/>
            <a:ext cx="3360464" cy="1772444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904" y="1571702"/>
            <a:ext cx="3203935" cy="1676286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4983436" y="3362610"/>
            <a:ext cx="3886200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spcBef>
                <a:spcPts val="607"/>
              </a:spcBef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— Welcome screen rendered by the Textual TUI client.</a:t>
            </a:r>
            <a:endParaRPr lang="en-US" sz="76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43514BE-6FD1-8025-DD55-800C8761D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36" y="3586719"/>
            <a:ext cx="2861260" cy="637593"/>
          </a:xfrm>
          <a:prstGeom prst="rect">
            <a:avLst/>
          </a:prstGeom>
        </p:spPr>
      </p:pic>
      <p:sp>
        <p:nvSpPr>
          <p:cNvPr id="36" name="Text 16">
            <a:extLst>
              <a:ext uri="{FF2B5EF4-FFF2-40B4-BE49-F238E27FC236}">
                <a16:creationId xmlns:a16="http://schemas.microsoft.com/office/drawing/2014/main" id="{31266331-181B-79AE-8AEA-4B2767023283}"/>
              </a:ext>
            </a:extLst>
          </p:cNvPr>
          <p:cNvSpPr/>
          <p:nvPr/>
        </p:nvSpPr>
        <p:spPr>
          <a:xfrm>
            <a:off x="4983436" y="4270931"/>
            <a:ext cx="3886200" cy="13151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spcBef>
                <a:spcPts val="607"/>
              </a:spcBef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— Backend logs when OTP requested. 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990" y="309600"/>
            <a:ext cx="410527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08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13</a:t>
            </a:r>
            <a:endParaRPr lang="en-US" sz="860" dirty="0"/>
          </a:p>
        </p:txBody>
      </p:sp>
      <p:sp>
        <p:nvSpPr>
          <p:cNvPr id="15" name="Text 2"/>
          <p:cNvSpPr/>
          <p:nvPr/>
        </p:nvSpPr>
        <p:spPr>
          <a:xfrm>
            <a:off x="548990" y="590662"/>
            <a:ext cx="4200810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810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Communication</a:t>
            </a:r>
            <a:endParaRPr lang="en-US" sz="2740" dirty="0"/>
          </a:p>
        </p:txBody>
      </p:sp>
      <p:sp>
        <p:nvSpPr>
          <p:cNvPr id="16" name="Shape 4"/>
          <p:cNvSpPr/>
          <p:nvPr/>
        </p:nvSpPr>
        <p:spPr>
          <a:xfrm>
            <a:off x="547688" y="1316459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5"/>
          <p:cNvSpPr/>
          <p:nvPr/>
        </p:nvSpPr>
        <p:spPr>
          <a:xfrm>
            <a:off x="547650" y="1527311"/>
            <a:ext cx="4581525" cy="249555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82" y="1622561"/>
            <a:ext cx="4386263" cy="230505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547650" y="4100922"/>
            <a:ext cx="4581525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4"/>
              </a:lnSpc>
              <a:spcBef>
                <a:spcPts val="607"/>
              </a:spcBef>
              <a:buNone/>
            </a:pPr>
            <a:r>
              <a:rPr lang="en-US" sz="7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— Live conversation rendered between two authenticated users.</a:t>
            </a:r>
            <a:endParaRPr lang="en-US" sz="760" dirty="0"/>
          </a:p>
        </p:txBody>
      </p:sp>
      <p:sp>
        <p:nvSpPr>
          <p:cNvPr id="20" name="Text 7"/>
          <p:cNvSpPr/>
          <p:nvPr/>
        </p:nvSpPr>
        <p:spPr>
          <a:xfrm>
            <a:off x="5403540" y="1525712"/>
            <a:ext cx="3190875" cy="8524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08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exchange is sustained by a full-duplex WebSocket channel established once authentication completes, allowing the server to push messages without client polling.</a:t>
            </a:r>
            <a:endParaRPr lang="en-US" sz="1080" dirty="0"/>
          </a:p>
        </p:txBody>
      </p:sp>
      <p:sp>
        <p:nvSpPr>
          <p:cNvPr id="21" name="Text 8"/>
          <p:cNvSpPr/>
          <p:nvPr/>
        </p:nvSpPr>
        <p:spPr>
          <a:xfrm>
            <a:off x="5403540" y="2531566"/>
            <a:ext cx="3190875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lang="en-US" sz="86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Connection registered in active_connections dictionary, keyed by phone number.</a:t>
            </a:r>
            <a:endParaRPr lang="en-US" sz="860" dirty="0"/>
          </a:p>
        </p:txBody>
      </p:sp>
      <p:sp>
        <p:nvSpPr>
          <p:cNvPr id="22" name="Text 9"/>
          <p:cNvSpPr/>
          <p:nvPr/>
        </p:nvSpPr>
        <p:spPr>
          <a:xfrm>
            <a:off x="5405438" y="2996510"/>
            <a:ext cx="3408362" cy="4873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Outbound payload is persisted to PostgreSQL, then forwarded to the recipient's live socket in a single asynchronous operation.</a:t>
            </a:r>
            <a:endParaRPr lang="en-US" sz="860" dirty="0"/>
          </a:p>
        </p:txBody>
      </p:sp>
      <p:sp>
        <p:nvSpPr>
          <p:cNvPr id="23" name="Text 10"/>
          <p:cNvSpPr/>
          <p:nvPr/>
        </p:nvSpPr>
        <p:spPr>
          <a:xfrm>
            <a:off x="5405438" y="3620154"/>
            <a:ext cx="3338512" cy="4873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reactive Textual loop receives the payload and re-renders the conversation pane without blocking input.</a:t>
            </a:r>
            <a:endParaRPr lang="en-US" sz="860" dirty="0"/>
          </a:p>
        </p:txBody>
      </p:sp>
      <p:sp>
        <p:nvSpPr>
          <p:cNvPr id="24" name="Text 11"/>
          <p:cNvSpPr/>
          <p:nvPr/>
        </p:nvSpPr>
        <p:spPr>
          <a:xfrm>
            <a:off x="5405438" y="4243797"/>
            <a:ext cx="3190875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1A1F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Disconnection events purge the socket from memory, preventing stale references.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432" y="258180"/>
            <a:ext cx="330517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09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8134090" y="26565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13</a:t>
            </a:r>
            <a:endParaRPr lang="en-US" sz="860" dirty="0"/>
          </a:p>
        </p:txBody>
      </p:sp>
      <p:sp>
        <p:nvSpPr>
          <p:cNvPr id="43" name="Text 2"/>
          <p:cNvSpPr/>
          <p:nvPr/>
        </p:nvSpPr>
        <p:spPr>
          <a:xfrm>
            <a:off x="548432" y="513494"/>
            <a:ext cx="3305175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607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2740" dirty="0"/>
          </a:p>
        </p:txBody>
      </p:sp>
      <p:sp>
        <p:nvSpPr>
          <p:cNvPr id="44" name="Shape 4"/>
          <p:cNvSpPr/>
          <p:nvPr/>
        </p:nvSpPr>
        <p:spPr>
          <a:xfrm>
            <a:off x="547688" y="1187872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5"/>
          <p:cNvSpPr/>
          <p:nvPr/>
        </p:nvSpPr>
        <p:spPr>
          <a:xfrm>
            <a:off x="547613" y="1321743"/>
            <a:ext cx="7134225" cy="4000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79"/>
              </a:lnSpc>
              <a:spcBef>
                <a:spcPts val="1013"/>
              </a:spcBef>
              <a:buNone/>
            </a:pPr>
            <a:r>
              <a:rPr lang="en-US" sz="97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 was validated by running the backend and multiple client instances side-by-side, then verifying each functional path against a structured set of test cases.</a:t>
            </a:r>
            <a:endParaRPr lang="en-US" sz="97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F5C6AB-F505-E132-7C27-DF26DD003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370999"/>
              </p:ext>
            </p:extLst>
          </p:nvPr>
        </p:nvGraphicFramePr>
        <p:xfrm>
          <a:off x="554831" y="1889391"/>
          <a:ext cx="8043864" cy="271029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60661">
                  <a:extLst>
                    <a:ext uri="{9D8B030D-6E8A-4147-A177-3AD203B41FA5}">
                      <a16:colId xmlns:a16="http://schemas.microsoft.com/office/drawing/2014/main" val="423557647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253272635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758345942"/>
                    </a:ext>
                  </a:extLst>
                </a:gridCol>
                <a:gridCol w="901453">
                  <a:extLst>
                    <a:ext uri="{9D8B030D-6E8A-4147-A177-3AD203B41FA5}">
                      <a16:colId xmlns:a16="http://schemas.microsoft.com/office/drawing/2014/main" val="74402073"/>
                    </a:ext>
                  </a:extLst>
                </a:gridCol>
              </a:tblGrid>
              <a:tr h="45041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188"/>
                        </a:lnSpc>
                        <a:buNone/>
                      </a:pPr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ID</a:t>
                      </a:r>
                      <a:endParaRPr lang="en-IN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FUNCTIONAL SCOPE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188"/>
                        </a:lnSpc>
                        <a:buNone/>
                      </a:pPr>
                      <a:endParaRPr lang="en-IN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EXPECTED RESULT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188"/>
                        </a:lnSpc>
                        <a:buNone/>
                      </a:pPr>
                      <a:endParaRPr lang="en-IN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1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90" kern="0" spc="79" dirty="0">
                          <a:solidFill>
                            <a:srgbClr val="2D5B8A"/>
                          </a:solidFill>
                        </a:rPr>
                        <a:t>STATUS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188"/>
                        </a:lnSpc>
                        <a:buNone/>
                      </a:pPr>
                      <a:endParaRPr lang="en-IN" sz="790" kern="0" spc="79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904703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r>
                        <a:rPr lang="en-US" sz="830" kern="1200" dirty="0">
                          <a:solidFill>
                            <a:srgbClr val="2D5B8A"/>
                          </a:solidFill>
                        </a:rPr>
                        <a:t>TC-001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Request OTP via /request-</a:t>
                      </a:r>
                      <a:r>
                        <a:rPr lang="en-US" sz="830" kern="1200" dirty="0" err="1">
                          <a:solidFill>
                            <a:schemeClr val="tx1"/>
                          </a:solidFill>
                        </a:rPr>
                        <a:t>otp</a:t>
                      </a: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 endpoint.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endParaRPr lang="en-IN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Token stored in memory cache and printed to server logs.</a:t>
                      </a:r>
                      <a:endParaRPr lang="en-US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30" kern="1200" dirty="0">
                          <a:solidFill>
                            <a:srgbClr val="2D5B8A"/>
                          </a:solidFill>
                        </a:rPr>
                        <a:t>PASS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491350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r>
                        <a:rPr lang="en-US" sz="830" kern="1200" dirty="0">
                          <a:solidFill>
                            <a:srgbClr val="2D5B8A"/>
                          </a:solidFill>
                        </a:rPr>
                        <a:t>TC-002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Submit valid OTP matching cached identity.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endParaRPr lang="en-IN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Session established; client loads primary workspace view.</a:t>
                      </a:r>
                      <a:endParaRPr lang="en-US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30" kern="1200" noProof="0" dirty="0">
                          <a:solidFill>
                            <a:srgbClr val="2D5B8A"/>
                          </a:solidFill>
                        </a:rPr>
                        <a:t>PASS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313521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r>
                        <a:rPr lang="en-US" sz="830" kern="1200" dirty="0">
                          <a:solidFill>
                            <a:srgbClr val="2D5B8A"/>
                          </a:solidFill>
                        </a:rPr>
                        <a:t>TC-003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Submit invalid or expired OTP payload.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endParaRPr lang="en-IN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API returns HTTP 400 and the client surfaces an error.</a:t>
                      </a:r>
                      <a:endParaRPr lang="en-US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30" kern="1200" noProof="0" dirty="0">
                          <a:solidFill>
                            <a:srgbClr val="2D5B8A"/>
                          </a:solidFill>
                        </a:rPr>
                        <a:t>PASS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90015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r>
                        <a:rPr lang="en-US" sz="830" kern="1200" dirty="0">
                          <a:solidFill>
                            <a:srgbClr val="2D5B8A"/>
                          </a:solidFill>
                        </a:rPr>
                        <a:t>TC-004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Dispatch real-time text message between users.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endParaRPr lang="en-IN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Row persisted to PostgreSQL and delivered to the recipient.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endParaRPr lang="en-IN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30" kern="1200" noProof="0" dirty="0">
                          <a:solidFill>
                            <a:srgbClr val="2D5B8A"/>
                          </a:solidFill>
                        </a:rPr>
                        <a:t>PASS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944481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r>
                        <a:rPr lang="en-US" sz="830" kern="1200" dirty="0">
                          <a:solidFill>
                            <a:srgbClr val="2D5B8A"/>
                          </a:solidFill>
                        </a:rPr>
                        <a:t>TC-005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Disconnect and re-login to verify history sync.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ts val="1242"/>
                        </a:lnSpc>
                        <a:buNone/>
                      </a:pPr>
                      <a:endParaRPr lang="en-IN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30" kern="1200" dirty="0">
                          <a:solidFill>
                            <a:schemeClr val="tx1"/>
                          </a:solidFill>
                        </a:rPr>
                        <a:t>Client recalls historical endpoints and repopulates the view.</a:t>
                      </a:r>
                      <a:endParaRPr lang="en-US" sz="830" kern="1200" dirty="0">
                        <a:solidFill>
                          <a:schemeClr val="tx1"/>
                        </a:solidFill>
                        <a:latin typeface="IBM Plex San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30" kern="1200" noProof="0" dirty="0">
                          <a:solidFill>
                            <a:srgbClr val="2D5B8A"/>
                          </a:solidFill>
                        </a:rPr>
                        <a:t>PASS</a:t>
                      </a:r>
                      <a:endParaRPr lang="en-IN" sz="830" kern="1200" dirty="0">
                        <a:solidFill>
                          <a:srgbClr val="2D5B8A"/>
                        </a:solidFill>
                        <a:latin typeface="IBM Plex Mono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8225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767" y="309600"/>
            <a:ext cx="2233612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10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13</a:t>
            </a:r>
            <a:endParaRPr lang="en-US" sz="860" dirty="0"/>
          </a:p>
        </p:txBody>
      </p:sp>
      <p:sp>
        <p:nvSpPr>
          <p:cNvPr id="31" name="Text 2"/>
          <p:cNvSpPr/>
          <p:nvPr/>
        </p:nvSpPr>
        <p:spPr>
          <a:xfrm>
            <a:off x="548766" y="589545"/>
            <a:ext cx="2480183" cy="53418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36"/>
              </a:lnSpc>
              <a:spcBef>
                <a:spcPts val="810"/>
              </a:spcBef>
              <a:buNone/>
            </a:pPr>
            <a:r>
              <a:rPr lang="en-US" sz="3020" b="1" kern="0" spc="-76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Features</a:t>
            </a:r>
            <a:endParaRPr lang="en-US" sz="3020" dirty="0"/>
          </a:p>
        </p:txBody>
      </p:sp>
      <p:sp>
        <p:nvSpPr>
          <p:cNvPr id="32" name="Shape 4"/>
          <p:cNvSpPr/>
          <p:nvPr/>
        </p:nvSpPr>
        <p:spPr>
          <a:xfrm>
            <a:off x="547688" y="1371377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5"/>
          <p:cNvSpPr/>
          <p:nvPr/>
        </p:nvSpPr>
        <p:spPr>
          <a:xfrm>
            <a:off x="549064" y="1632124"/>
            <a:ext cx="2528888" cy="140970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6"/>
          <p:cNvSpPr/>
          <p:nvPr/>
        </p:nvSpPr>
        <p:spPr>
          <a:xfrm>
            <a:off x="737183" y="1821098"/>
            <a:ext cx="21526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50" dirty="0"/>
          </a:p>
        </p:txBody>
      </p:sp>
      <p:sp>
        <p:nvSpPr>
          <p:cNvPr id="35" name="Text 7"/>
          <p:cNvSpPr/>
          <p:nvPr/>
        </p:nvSpPr>
        <p:spPr>
          <a:xfrm>
            <a:off x="737183" y="2117936"/>
            <a:ext cx="215265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30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OTP Authentication</a:t>
            </a:r>
            <a:endParaRPr lang="en-US" sz="1300" dirty="0"/>
          </a:p>
        </p:txBody>
      </p:sp>
      <p:sp>
        <p:nvSpPr>
          <p:cNvPr id="36" name="Text 8"/>
          <p:cNvSpPr/>
          <p:nvPr/>
        </p:nvSpPr>
        <p:spPr>
          <a:xfrm>
            <a:off x="737183" y="2400449"/>
            <a:ext cx="215265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607"/>
              </a:spcBef>
              <a:buNone/>
            </a:pPr>
            <a:r>
              <a:rPr lang="en-US" sz="8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Password-less login through a mobile-number and one-time-code verification handshake.</a:t>
            </a:r>
            <a:endParaRPr lang="en-US" sz="860" dirty="0"/>
          </a:p>
        </p:txBody>
      </p:sp>
      <p:sp>
        <p:nvSpPr>
          <p:cNvPr id="37" name="Shape 9"/>
          <p:cNvSpPr/>
          <p:nvPr/>
        </p:nvSpPr>
        <p:spPr>
          <a:xfrm>
            <a:off x="3307519" y="1632124"/>
            <a:ext cx="2528888" cy="140970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0"/>
          <p:cNvSpPr/>
          <p:nvPr/>
        </p:nvSpPr>
        <p:spPr>
          <a:xfrm>
            <a:off x="3495638" y="1821098"/>
            <a:ext cx="21526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50" dirty="0"/>
          </a:p>
        </p:txBody>
      </p:sp>
      <p:sp>
        <p:nvSpPr>
          <p:cNvPr id="39" name="Text 11"/>
          <p:cNvSpPr/>
          <p:nvPr/>
        </p:nvSpPr>
        <p:spPr>
          <a:xfrm>
            <a:off x="3495638" y="2117936"/>
            <a:ext cx="215265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30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Messaging</a:t>
            </a:r>
            <a:endParaRPr lang="en-US" sz="1300" dirty="0"/>
          </a:p>
        </p:txBody>
      </p:sp>
      <p:sp>
        <p:nvSpPr>
          <p:cNvPr id="40" name="Text 12"/>
          <p:cNvSpPr/>
          <p:nvPr/>
        </p:nvSpPr>
        <p:spPr>
          <a:xfrm>
            <a:off x="3495638" y="2400449"/>
            <a:ext cx="215265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607"/>
              </a:spcBef>
              <a:buNone/>
            </a:pPr>
            <a:r>
              <a:rPr lang="en-US" sz="8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one-to-one exchange over persistent WebSocket connections without polling.</a:t>
            </a:r>
            <a:endParaRPr lang="en-US" sz="860" dirty="0"/>
          </a:p>
        </p:txBody>
      </p:sp>
      <p:sp>
        <p:nvSpPr>
          <p:cNvPr id="41" name="Shape 13"/>
          <p:cNvSpPr/>
          <p:nvPr/>
        </p:nvSpPr>
        <p:spPr>
          <a:xfrm>
            <a:off x="6065974" y="1632124"/>
            <a:ext cx="2528888" cy="140970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14"/>
          <p:cNvSpPr/>
          <p:nvPr/>
        </p:nvSpPr>
        <p:spPr>
          <a:xfrm>
            <a:off x="6254093" y="1821098"/>
            <a:ext cx="21526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50" dirty="0"/>
          </a:p>
        </p:txBody>
      </p:sp>
      <p:sp>
        <p:nvSpPr>
          <p:cNvPr id="43" name="Text 15"/>
          <p:cNvSpPr/>
          <p:nvPr/>
        </p:nvSpPr>
        <p:spPr>
          <a:xfrm>
            <a:off x="6254093" y="2117936"/>
            <a:ext cx="215265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30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Persistent History</a:t>
            </a:r>
            <a:endParaRPr lang="en-US" sz="1300" dirty="0"/>
          </a:p>
        </p:txBody>
      </p:sp>
      <p:sp>
        <p:nvSpPr>
          <p:cNvPr id="44" name="Text 16"/>
          <p:cNvSpPr/>
          <p:nvPr/>
        </p:nvSpPr>
        <p:spPr>
          <a:xfrm>
            <a:off x="6254093" y="2400449"/>
            <a:ext cx="215265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607"/>
              </a:spcBef>
              <a:buNone/>
            </a:pPr>
            <a:r>
              <a:rPr lang="en-US" sz="8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Conversations are stored in PostgreSQL and replayed on demand between any two participants.</a:t>
            </a:r>
            <a:endParaRPr lang="en-US" sz="860" dirty="0"/>
          </a:p>
        </p:txBody>
      </p:sp>
      <p:sp>
        <p:nvSpPr>
          <p:cNvPr id="45" name="Shape 17"/>
          <p:cNvSpPr/>
          <p:nvPr/>
        </p:nvSpPr>
        <p:spPr>
          <a:xfrm>
            <a:off x="549064" y="3268042"/>
            <a:ext cx="2528888" cy="140970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18"/>
          <p:cNvSpPr/>
          <p:nvPr/>
        </p:nvSpPr>
        <p:spPr>
          <a:xfrm>
            <a:off x="737183" y="3457017"/>
            <a:ext cx="21526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50" dirty="0"/>
          </a:p>
        </p:txBody>
      </p:sp>
      <p:sp>
        <p:nvSpPr>
          <p:cNvPr id="47" name="Text 19"/>
          <p:cNvSpPr/>
          <p:nvPr/>
        </p:nvSpPr>
        <p:spPr>
          <a:xfrm>
            <a:off x="737183" y="3753855"/>
            <a:ext cx="215265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30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 Management</a:t>
            </a:r>
            <a:endParaRPr lang="en-US" sz="1300" dirty="0"/>
          </a:p>
        </p:txBody>
      </p:sp>
      <p:sp>
        <p:nvSpPr>
          <p:cNvPr id="48" name="Text 20"/>
          <p:cNvSpPr/>
          <p:nvPr/>
        </p:nvSpPr>
        <p:spPr>
          <a:xfrm>
            <a:off x="737183" y="4036368"/>
            <a:ext cx="215265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607"/>
              </a:spcBef>
              <a:buNone/>
            </a:pPr>
            <a:r>
              <a:rPr lang="en-US" sz="8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sidebar interface for adding new contacts via phone number and selecting an active conversation.</a:t>
            </a:r>
            <a:endParaRPr lang="en-US" sz="860" dirty="0"/>
          </a:p>
        </p:txBody>
      </p:sp>
      <p:sp>
        <p:nvSpPr>
          <p:cNvPr id="49" name="Shape 21"/>
          <p:cNvSpPr/>
          <p:nvPr/>
        </p:nvSpPr>
        <p:spPr>
          <a:xfrm>
            <a:off x="3307519" y="3268042"/>
            <a:ext cx="2528888" cy="140970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22"/>
          <p:cNvSpPr/>
          <p:nvPr/>
        </p:nvSpPr>
        <p:spPr>
          <a:xfrm>
            <a:off x="3495638" y="3457017"/>
            <a:ext cx="21526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50" dirty="0"/>
          </a:p>
        </p:txBody>
      </p:sp>
      <p:sp>
        <p:nvSpPr>
          <p:cNvPr id="51" name="Text 23"/>
          <p:cNvSpPr/>
          <p:nvPr/>
        </p:nvSpPr>
        <p:spPr>
          <a:xfrm>
            <a:off x="3495638" y="3753855"/>
            <a:ext cx="215265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30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Reactive TUI</a:t>
            </a:r>
            <a:endParaRPr lang="en-US" sz="1300" dirty="0"/>
          </a:p>
        </p:txBody>
      </p:sp>
      <p:sp>
        <p:nvSpPr>
          <p:cNvPr id="52" name="Text 24"/>
          <p:cNvSpPr/>
          <p:nvPr/>
        </p:nvSpPr>
        <p:spPr>
          <a:xfrm>
            <a:off x="3495638" y="4036368"/>
            <a:ext cx="215265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607"/>
              </a:spcBef>
              <a:buNone/>
            </a:pPr>
            <a:r>
              <a:rPr lang="en-US" sz="8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CSS-styled Textual interface that re-renders asynchronously as messages arrive over the socket.</a:t>
            </a:r>
            <a:endParaRPr lang="en-US" sz="860" dirty="0"/>
          </a:p>
        </p:txBody>
      </p:sp>
      <p:sp>
        <p:nvSpPr>
          <p:cNvPr id="53" name="Shape 25"/>
          <p:cNvSpPr/>
          <p:nvPr/>
        </p:nvSpPr>
        <p:spPr>
          <a:xfrm>
            <a:off x="6065974" y="3268042"/>
            <a:ext cx="2528888" cy="1409700"/>
          </a:xfrm>
          <a:prstGeom prst="rect">
            <a:avLst/>
          </a:prstGeom>
          <a:solidFill>
            <a:srgbClr val="F2F0EA"/>
          </a:solidFill>
          <a:ln w="4763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26"/>
          <p:cNvSpPr/>
          <p:nvPr/>
        </p:nvSpPr>
        <p:spPr>
          <a:xfrm>
            <a:off x="6254093" y="3457017"/>
            <a:ext cx="215265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50" dirty="0"/>
          </a:p>
        </p:txBody>
      </p:sp>
      <p:sp>
        <p:nvSpPr>
          <p:cNvPr id="55" name="Text 27"/>
          <p:cNvSpPr/>
          <p:nvPr/>
        </p:nvSpPr>
        <p:spPr>
          <a:xfrm>
            <a:off x="6254093" y="3753855"/>
            <a:ext cx="2152650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30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Lightweight</a:t>
            </a:r>
            <a:endParaRPr lang="en-US" sz="1300" dirty="0"/>
          </a:p>
        </p:txBody>
      </p:sp>
      <p:sp>
        <p:nvSpPr>
          <p:cNvPr id="56" name="Text 28"/>
          <p:cNvSpPr/>
          <p:nvPr/>
        </p:nvSpPr>
        <p:spPr>
          <a:xfrm>
            <a:off x="6254093" y="4036368"/>
            <a:ext cx="215265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Bef>
                <a:spcPts val="607"/>
              </a:spcBef>
              <a:buNone/>
            </a:pPr>
            <a:r>
              <a:rPr lang="en-US" sz="86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Operates entirely within the terminal, consuming a fraction of the resources required by graphical clients.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16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7576" y="309600"/>
            <a:ext cx="41529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40" kern="0" spc="94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11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8134090" y="317078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13</a:t>
            </a:r>
            <a:endParaRPr lang="en-US" sz="860" dirty="0"/>
          </a:p>
        </p:txBody>
      </p:sp>
      <p:sp>
        <p:nvSpPr>
          <p:cNvPr id="23" name="Text 2"/>
          <p:cNvSpPr/>
          <p:nvPr/>
        </p:nvSpPr>
        <p:spPr>
          <a:xfrm>
            <a:off x="547576" y="590662"/>
            <a:ext cx="4297474" cy="48635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04"/>
              </a:lnSpc>
              <a:spcBef>
                <a:spcPts val="810"/>
              </a:spcBef>
              <a:buNone/>
            </a:pPr>
            <a:r>
              <a:rPr lang="en-US" sz="2740" b="1" kern="0" spc="-68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Scope &amp; Conclusion</a:t>
            </a:r>
            <a:endParaRPr lang="en-US" sz="2740" dirty="0"/>
          </a:p>
        </p:txBody>
      </p:sp>
      <p:sp>
        <p:nvSpPr>
          <p:cNvPr id="24" name="Shape 4"/>
          <p:cNvSpPr/>
          <p:nvPr/>
        </p:nvSpPr>
        <p:spPr>
          <a:xfrm>
            <a:off x="547688" y="1316459"/>
            <a:ext cx="8048625" cy="4763"/>
          </a:xfrm>
          <a:prstGeom prst="rect">
            <a:avLst/>
          </a:prstGeom>
          <a:solidFill>
            <a:srgbClr val="D9D6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5"/>
          <p:cNvSpPr/>
          <p:nvPr/>
        </p:nvSpPr>
        <p:spPr>
          <a:xfrm>
            <a:off x="548618" y="1526158"/>
            <a:ext cx="38862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 ENHANCEMENTS</a:t>
            </a:r>
            <a:endParaRPr lang="en-US" sz="790" dirty="0"/>
          </a:p>
        </p:txBody>
      </p:sp>
      <p:sp>
        <p:nvSpPr>
          <p:cNvPr id="26" name="Text 6"/>
          <p:cNvSpPr/>
          <p:nvPr/>
        </p:nvSpPr>
        <p:spPr>
          <a:xfrm>
            <a:off x="548618" y="1780356"/>
            <a:ext cx="3886200" cy="1771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</a:t>
            </a:r>
            <a:r>
              <a:rPr lang="en-US" sz="97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conversations with multi-recipient routing.</a:t>
            </a:r>
            <a:endParaRPr lang="en-US" sz="970" dirty="0"/>
          </a:p>
        </p:txBody>
      </p:sp>
      <p:sp>
        <p:nvSpPr>
          <p:cNvPr id="27" name="Text 7"/>
          <p:cNvSpPr/>
          <p:nvPr/>
        </p:nvSpPr>
        <p:spPr>
          <a:xfrm>
            <a:off x="548618" y="2047726"/>
            <a:ext cx="3886200" cy="1771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</a:t>
            </a:r>
            <a:r>
              <a:rPr lang="en-US" sz="97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encryption of message payloads.</a:t>
            </a:r>
            <a:endParaRPr lang="en-US" sz="970" dirty="0"/>
          </a:p>
        </p:txBody>
      </p:sp>
      <p:sp>
        <p:nvSpPr>
          <p:cNvPr id="28" name="Text 8"/>
          <p:cNvSpPr/>
          <p:nvPr/>
        </p:nvSpPr>
        <p:spPr>
          <a:xfrm>
            <a:off x="548618" y="2315096"/>
            <a:ext cx="3886200" cy="1771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</a:t>
            </a:r>
            <a:r>
              <a:rPr lang="en-US" sz="97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transfer and inline multimedia previews.</a:t>
            </a:r>
            <a:endParaRPr lang="en-US" sz="970" dirty="0"/>
          </a:p>
        </p:txBody>
      </p:sp>
      <p:sp>
        <p:nvSpPr>
          <p:cNvPr id="29" name="Text 9"/>
          <p:cNvSpPr/>
          <p:nvPr/>
        </p:nvSpPr>
        <p:spPr>
          <a:xfrm>
            <a:off x="548618" y="2582466"/>
            <a:ext cx="3886200" cy="1771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</a:t>
            </a:r>
            <a:r>
              <a:rPr lang="en-US" sz="97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deployment with horizontal scaling.</a:t>
            </a:r>
            <a:endParaRPr lang="en-US" sz="970" dirty="0"/>
          </a:p>
        </p:txBody>
      </p:sp>
      <p:sp>
        <p:nvSpPr>
          <p:cNvPr id="30" name="Text 10"/>
          <p:cNvSpPr/>
          <p:nvPr/>
        </p:nvSpPr>
        <p:spPr>
          <a:xfrm>
            <a:off x="548618" y="2849835"/>
            <a:ext cx="3886200" cy="1771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 </a:t>
            </a:r>
            <a:r>
              <a:rPr lang="en-US" sz="97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receipts and presence indicators.</a:t>
            </a:r>
            <a:endParaRPr lang="en-US" sz="970" dirty="0"/>
          </a:p>
        </p:txBody>
      </p:sp>
      <p:sp>
        <p:nvSpPr>
          <p:cNvPr id="31" name="Shape 11"/>
          <p:cNvSpPr/>
          <p:nvPr/>
        </p:nvSpPr>
        <p:spPr>
          <a:xfrm>
            <a:off x="4709182" y="1527535"/>
            <a:ext cx="3886200" cy="15287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12"/>
          <p:cNvSpPr/>
          <p:nvPr/>
        </p:nvSpPr>
        <p:spPr>
          <a:xfrm>
            <a:off x="4989202" y="1526158"/>
            <a:ext cx="3605212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kern="0" spc="79" dirty="0">
                <a:solidFill>
                  <a:srgbClr val="2D5B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</a:t>
            </a:r>
            <a:endParaRPr lang="en-US" sz="790" dirty="0"/>
          </a:p>
        </p:txBody>
      </p:sp>
      <p:sp>
        <p:nvSpPr>
          <p:cNvPr id="33" name="Text 13"/>
          <p:cNvSpPr/>
          <p:nvPr/>
        </p:nvSpPr>
        <p:spPr>
          <a:xfrm>
            <a:off x="4989202" y="1780580"/>
            <a:ext cx="3605212" cy="5953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010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Terminal Based Chat Application demonstrates that a modern, responsive messaging experience can be delivered without departing from the command-line environment.</a:t>
            </a:r>
            <a:endParaRPr lang="en-US" sz="1010" dirty="0"/>
          </a:p>
        </p:txBody>
      </p:sp>
      <p:sp>
        <p:nvSpPr>
          <p:cNvPr id="34" name="Text 14"/>
          <p:cNvSpPr/>
          <p:nvPr/>
        </p:nvSpPr>
        <p:spPr>
          <a:xfrm>
            <a:off x="4989202" y="2504442"/>
            <a:ext cx="3605212" cy="56079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51"/>
              </a:lnSpc>
              <a:spcBef>
                <a:spcPts val="1013"/>
              </a:spcBef>
              <a:buNone/>
            </a:pPr>
            <a:r>
              <a:rPr lang="en-US" sz="940" dirty="0">
                <a:solidFill>
                  <a:srgbClr val="5A62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combining FastAPI's asynchronous features, PostgreSQL's reliability, and Textual's reactive rendering, the project achieves a lightweight, and upgradable base for further development.</a:t>
            </a:r>
            <a:endParaRPr lang="en-US" sz="940" dirty="0"/>
          </a:p>
        </p:txBody>
      </p:sp>
      <p:sp>
        <p:nvSpPr>
          <p:cNvPr id="35" name="Shape 15"/>
          <p:cNvSpPr/>
          <p:nvPr/>
        </p:nvSpPr>
        <p:spPr>
          <a:xfrm>
            <a:off x="547688" y="4396941"/>
            <a:ext cx="8048625" cy="490537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6"/>
          <p:cNvSpPr/>
          <p:nvPr/>
        </p:nvSpPr>
        <p:spPr>
          <a:xfrm>
            <a:off x="549176" y="4585469"/>
            <a:ext cx="1127224" cy="28386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76"/>
              </a:lnSpc>
              <a:buNone/>
            </a:pPr>
            <a:r>
              <a:rPr lang="en-US" sz="1580" b="1" dirty="0">
                <a:solidFill>
                  <a:srgbClr val="1A1F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  <a:endParaRPr lang="en-US" sz="1580" dirty="0"/>
          </a:p>
        </p:txBody>
      </p:sp>
      <p:sp>
        <p:nvSpPr>
          <p:cNvPr id="37" name="Text 17"/>
          <p:cNvSpPr/>
          <p:nvPr/>
        </p:nvSpPr>
        <p:spPr>
          <a:xfrm>
            <a:off x="6621066" y="4561007"/>
            <a:ext cx="1974354" cy="15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Department of Computer Science</a:t>
            </a:r>
            <a:endParaRPr lang="en-US" sz="860" dirty="0"/>
          </a:p>
        </p:txBody>
      </p:sp>
      <p:sp>
        <p:nvSpPr>
          <p:cNvPr id="38" name="Text 18"/>
          <p:cNvSpPr/>
          <p:nvPr/>
        </p:nvSpPr>
        <p:spPr>
          <a:xfrm>
            <a:off x="6291188" y="4720679"/>
            <a:ext cx="230505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96"/>
              </a:lnSpc>
              <a:buNone/>
            </a:pPr>
            <a:r>
              <a:rPr lang="en-US" sz="860" dirty="0">
                <a:solidFill>
                  <a:srgbClr val="5A62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Himachal Pradesh University, Shimla</a:t>
            </a:r>
            <a:endParaRPr lang="en-US" sz="86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182" y="1527535"/>
            <a:ext cx="3886200" cy="1528763"/>
          </a:xfrm>
          <a:prstGeom prst="rect">
            <a:avLst/>
          </a:prstGeom>
        </p:spPr>
      </p:pic>
      <p:pic>
        <p:nvPicPr>
          <p:cNvPr id="4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4396941"/>
            <a:ext cx="8048625" cy="4905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1503</Words>
  <Application>Microsoft Office PowerPoint</Application>
  <PresentationFormat>On-screen Show (16:9)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GHANSHYAM THAKUR</cp:lastModifiedBy>
  <cp:revision>15</cp:revision>
  <cp:lastPrinted>2026-05-18T08:25:58Z</cp:lastPrinted>
  <dcterms:created xsi:type="dcterms:W3CDTF">2026-05-18T10:26:09Z</dcterms:created>
  <dcterms:modified xsi:type="dcterms:W3CDTF">2026-05-18T08:26:05Z</dcterms:modified>
</cp:coreProperties>
</file>